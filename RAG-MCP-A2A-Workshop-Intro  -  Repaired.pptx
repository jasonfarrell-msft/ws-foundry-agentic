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5"/>
  </p:normalViewPr>
  <p:slideViewPr>
    <p:cSldViewPr snapToGrid="0" snapToObjects="1">
      <p:cViewPr varScale="1">
        <p:scale>
          <a:sx n="132" d="100"/>
          <a:sy n="132" d="100"/>
        </p:scale>
        <p:origin x="32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758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/>
        </p:nvSpPr>
        <p:spPr/>
        <p:txBody>
          <a:bodyPr/>
          <a:lstStyle/>
          <a:p>
            <a:r>
              <a:t>Frame: three terms, three different jobs. RAG is about knowledge, MCP is about access to tools, A2A is about agents working together.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/>
        </p:nvSpPr>
        <p:spPr/>
        <p:txBody>
          <a:bodyPr/>
          <a:lstStyle/>
          <a:p>
            <a:r>
              <a:t>RAG = retrieval-augmented generation. The model doesn't memorize your content; it looks it up at question time and answers from what it found. This is why answers can cite sources and stay current.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/>
        </p:nvSpPr>
        <p:spPr/>
        <p:txBody>
          <a:bodyPr/>
          <a:lstStyle/>
          <a:p>
            <a:r>
              <a:t>MCP = Model Context Protocol. Before it, every tool needed a custom integration. MCP is the common interface so an agent can plug into email, files, databases and business systems the same way.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/>
        </p:nvSpPr>
        <p:spPr/>
        <p:txBody>
          <a:bodyPr/>
          <a:lstStyle/>
          <a:p>
            <a:r>
              <a:t>A2A = agent-to-agent. Instead of one giant agent, specialist agents delegate to each other and pass results back, even across teams or vendors.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4C4A"/>
          </a:solidFill>
        </p:spPr>
        <p:txBody>
          <a:bodyPr/>
          <a:lstStyle/>
          <a:p>
            <a:endParaRPr/>
          </a:p>
        </p:txBody>
      </p:sp>
      <p:sp>
        <p:nvSpPr>
          <p:cNvPr id="3" name="TextBox"/>
          <p:cNvSpPr txBox="1"/>
          <p:nvPr/>
        </p:nvSpPr>
        <p:spPr>
          <a:xfrm>
            <a:off x="914400" y="2100000"/>
            <a:ext cx="10363200" cy="1000000"/>
          </a:xfrm>
          <a:prstGeom prst="rect">
            <a:avLst/>
          </a:prstGeom>
        </p:spPr>
        <p:txBody>
          <a:bodyPr wrap="none"/>
          <a:lstStyle/>
          <a:p>
            <a:r>
              <a:rPr sz="5400" b="1">
                <a:solidFill>
                  <a:srgbClr val="FFFFFF"/>
                </a:solidFill>
                <a:latin typeface="Trebuchet MS"/>
              </a:rPr>
              <a:t>RAG · MCP · A2A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914400" y="3250000"/>
            <a:ext cx="8600000" cy="900000"/>
          </a:xfrm>
          <a:prstGeom prst="rect">
            <a:avLst/>
          </a:prstGeom>
        </p:spPr>
        <p:txBody>
          <a:bodyPr/>
          <a:lstStyle/>
          <a:p>
            <a:r>
              <a:rPr sz="2000">
                <a:solidFill>
                  <a:srgbClr val="A9C7C4"/>
                </a:solidFill>
                <a:latin typeface="Calibri"/>
              </a:rPr>
              <a:t>The three terms behind today's workshop — in plain English</a:t>
            </a:r>
          </a:p>
        </p:txBody>
      </p:sp>
      <p:sp>
        <p:nvSpPr>
          <p:cNvPr id="5" name="Shape"/>
          <p:cNvSpPr/>
          <p:nvPr/>
        </p:nvSpPr>
        <p:spPr>
          <a:xfrm>
            <a:off x="914400" y="4500000"/>
            <a:ext cx="260000" cy="260000"/>
          </a:xfrm>
          <a:prstGeom prst="ellipse">
            <a:avLst/>
          </a:prstGeom>
          <a:solidFill>
            <a:srgbClr val="E8833A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1314400" y="4500000"/>
            <a:ext cx="260000" cy="260000"/>
          </a:xfrm>
          <a:prstGeom prst="ellipse">
            <a:avLst/>
          </a:prstGeom>
          <a:solidFill>
            <a:srgbClr val="2E8B84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1714400" y="4500000"/>
            <a:ext cx="260000" cy="26000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100000"/>
          </a:xfrm>
          <a:prstGeom prst="rect">
            <a:avLst/>
          </a:prstGeom>
        </p:spPr>
        <p:txBody>
          <a:bodyPr/>
          <a:lstStyle/>
          <a:p>
            <a:r>
              <a:rPr sz="3200" b="1">
                <a:solidFill>
                  <a:srgbClr val="14201F"/>
                </a:solidFill>
                <a:latin typeface="Trebuchet MS"/>
              </a:rPr>
              <a:t>RAG feeds the model, MCP connects it, A2A lets agents team up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2000000"/>
            <a:ext cx="3352800" cy="2600000"/>
          </a:xfrm>
          <a:prstGeom prst="roundRect">
            <a:avLst/>
          </a:prstGeom>
          <a:solidFill>
            <a:srgbClr val="EEF3F2"/>
          </a:solidFill>
        </p:spPr>
        <p:txBody>
          <a:bodyPr/>
          <a:lstStyle/>
          <a:p>
            <a:endParaRPr/>
          </a:p>
        </p:txBody>
      </p:sp>
      <p:sp>
        <p:nvSpPr>
          <p:cNvPr id="4" name="Shape"/>
          <p:cNvSpPr/>
          <p:nvPr/>
        </p:nvSpPr>
        <p:spPr>
          <a:xfrm>
            <a:off x="4419600" y="2000000"/>
            <a:ext cx="3352800" cy="2600000"/>
          </a:xfrm>
          <a:prstGeom prst="roundRect">
            <a:avLst/>
          </a:prstGeom>
          <a:solidFill>
            <a:srgbClr val="EEF3F2"/>
          </a:solidFill>
        </p:spPr>
        <p:txBody>
          <a:bodyPr/>
          <a:lstStyle/>
          <a:p>
            <a:endParaRPr/>
          </a:p>
        </p:txBody>
      </p:sp>
      <p:sp>
        <p:nvSpPr>
          <p:cNvPr id="5" name="Shape"/>
          <p:cNvSpPr/>
          <p:nvPr/>
        </p:nvSpPr>
        <p:spPr>
          <a:xfrm>
            <a:off x="8153400" y="2000000"/>
            <a:ext cx="3352800" cy="2600000"/>
          </a:xfrm>
          <a:prstGeom prst="roundRect">
            <a:avLst/>
          </a:prstGeom>
          <a:solidFill>
            <a:srgbClr val="EEF3F2"/>
          </a:solidFill>
        </p:spPr>
        <p:txBody>
          <a:bodyPr/>
          <a:lstStyle/>
          <a:p>
            <a:endParaRPr/>
          </a:p>
        </p:txBody>
      </p:sp>
      <p:sp>
        <p:nvSpPr>
          <p:cNvPr id="6" name="Shape"/>
          <p:cNvSpPr/>
          <p:nvPr/>
        </p:nvSpPr>
        <p:spPr>
          <a:xfrm>
            <a:off x="2062200" y="2300000"/>
            <a:ext cx="600000" cy="600000"/>
          </a:xfrm>
          <a:prstGeom prst="ellipse">
            <a:avLst/>
          </a:prstGeom>
          <a:solidFill>
            <a:srgbClr val="0F4C4A"/>
          </a:solidFill>
        </p:spPr>
        <p:txBody>
          <a:bodyPr wrap="none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Trebuchet MS"/>
              </a:rPr>
              <a:t>R</a:t>
            </a:r>
          </a:p>
        </p:txBody>
      </p:sp>
      <p:sp>
        <p:nvSpPr>
          <p:cNvPr id="7" name="Shape"/>
          <p:cNvSpPr/>
          <p:nvPr/>
        </p:nvSpPr>
        <p:spPr>
          <a:xfrm>
            <a:off x="5796000" y="2300000"/>
            <a:ext cx="600000" cy="600000"/>
          </a:xfrm>
          <a:prstGeom prst="ellipse">
            <a:avLst/>
          </a:prstGeom>
          <a:solidFill>
            <a:srgbClr val="E8833A"/>
          </a:solidFill>
        </p:spPr>
        <p:txBody>
          <a:bodyPr wrap="none" anchor="ctr"/>
          <a:lstStyle/>
          <a:p>
            <a:pPr algn="ctr"/>
            <a:r>
              <a:rPr sz="2800" b="1">
                <a:latin typeface="Trebuchet MS"/>
              </a:rPr>
              <a:t>M</a:t>
            </a:r>
          </a:p>
        </p:txBody>
      </p:sp>
      <p:sp>
        <p:nvSpPr>
          <p:cNvPr id="8" name="Shape"/>
          <p:cNvSpPr/>
          <p:nvPr/>
        </p:nvSpPr>
        <p:spPr>
          <a:xfrm>
            <a:off x="9529800" y="2300000"/>
            <a:ext cx="600000" cy="600000"/>
          </a:xfrm>
          <a:prstGeom prst="ellipse">
            <a:avLst/>
          </a:prstGeom>
          <a:solidFill>
            <a:srgbClr val="2E8B84"/>
          </a:solidFill>
        </p:spPr>
        <p:txBody>
          <a:bodyPr wrap="none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Trebuchet MS"/>
              </a:rPr>
              <a:t>A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885800" y="3100000"/>
            <a:ext cx="2952800" cy="5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2400" b="1">
                <a:solidFill>
                  <a:srgbClr val="0F4C4A"/>
                </a:solidFill>
                <a:latin typeface="Trebuchet MS"/>
              </a:rPr>
              <a:t>RAG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4619600" y="3100000"/>
            <a:ext cx="2952800" cy="5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2400" b="1">
                <a:solidFill>
                  <a:srgbClr val="0F4C4A"/>
                </a:solidFill>
                <a:latin typeface="Trebuchet MS"/>
              </a:rPr>
              <a:t>MCP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8353400" y="3100000"/>
            <a:ext cx="2952800" cy="5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2400" b="1">
                <a:solidFill>
                  <a:srgbClr val="0F4C4A"/>
                </a:solidFill>
                <a:latin typeface="Trebuchet MS"/>
              </a:rPr>
              <a:t>A2A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885800" y="3700000"/>
            <a:ext cx="2952800" cy="12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600">
                <a:solidFill>
                  <a:srgbClr val="5A6A68"/>
                </a:solidFill>
                <a:latin typeface="Calibri"/>
              </a:rPr>
              <a:t>Grounds answers in your own content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4619600" y="3700000"/>
            <a:ext cx="2952800" cy="12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600">
                <a:solidFill>
                  <a:srgbClr val="5A6A68"/>
                </a:solidFill>
                <a:latin typeface="Calibri"/>
              </a:rPr>
              <a:t>One standard plug for tools and data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8353400" y="3700000"/>
            <a:ext cx="2952800" cy="12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600">
                <a:solidFill>
                  <a:srgbClr val="5A6A68"/>
                </a:solidFill>
                <a:latin typeface="Calibri"/>
              </a:rPr>
              <a:t>Agents handing work to other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sz="3200" b="1">
                <a:solidFill>
                  <a:srgbClr val="14201F"/>
                </a:solidFill>
                <a:latin typeface="Trebuchet MS"/>
              </a:rPr>
              <a:t>RAG grounds answers in your content, not just the model's memory</a:t>
            </a:r>
          </a:p>
        </p:txBody>
      </p:sp>
      <p:sp>
        <p:nvSpPr>
          <p:cNvPr id="3" name="Shape"/>
          <p:cNvSpPr/>
          <p:nvPr/>
        </p:nvSpPr>
        <p:spPr>
          <a:xfrm>
            <a:off x="685800" y="2500000"/>
            <a:ext cx="2100000" cy="1200000"/>
          </a:xfrm>
          <a:prstGeom prst="roundRect">
            <a:avLst/>
          </a:prstGeom>
          <a:solidFill>
            <a:srgbClr val="EEF3F2"/>
          </a:solidFill>
        </p:spPr>
        <p:txBody>
          <a:bodyPr anchor="ctr"/>
          <a:lstStyle/>
          <a:p>
            <a:pPr algn="ctr"/>
            <a:r>
              <a:rPr sz="1600">
                <a:solidFill>
                  <a:srgbClr val="14201F"/>
                </a:solidFill>
                <a:latin typeface="Calibri"/>
              </a:rPr>
              <a:t>Your question</a:t>
            </a:r>
          </a:p>
        </p:txBody>
      </p:sp>
      <p:sp>
        <p:nvSpPr>
          <p:cNvPr id="4" name="Shape"/>
          <p:cNvSpPr/>
          <p:nvPr/>
        </p:nvSpPr>
        <p:spPr>
          <a:xfrm>
            <a:off x="2939200" y="2980000"/>
            <a:ext cx="500000" cy="240000"/>
          </a:xfrm>
          <a:prstGeom prst="rightArrow">
            <a:avLst/>
          </a:prstGeom>
          <a:solidFill>
            <a:srgbClr val="9AA9A6"/>
          </a:solidFill>
        </p:spPr>
        <p:txBody>
          <a:bodyPr/>
          <a:lstStyle/>
          <a:p>
            <a:endParaRPr/>
          </a:p>
        </p:txBody>
      </p:sp>
      <p:sp>
        <p:nvSpPr>
          <p:cNvPr id="5" name="Shape"/>
          <p:cNvSpPr/>
          <p:nvPr/>
        </p:nvSpPr>
        <p:spPr>
          <a:xfrm>
            <a:off x="3592600" y="2500000"/>
            <a:ext cx="2100000" cy="1200000"/>
          </a:xfrm>
          <a:prstGeom prst="roundRect">
            <a:avLst/>
          </a:prstGeom>
          <a:solidFill>
            <a:srgbClr val="0F4C4A"/>
          </a:solidFill>
        </p:spPr>
        <p:txBody>
          <a:bodyPr anchor="ctr"/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Retrieve relevant content</a:t>
            </a:r>
          </a:p>
        </p:txBody>
      </p:sp>
      <p:sp>
        <p:nvSpPr>
          <p:cNvPr id="6" name="Shape"/>
          <p:cNvSpPr/>
          <p:nvPr/>
        </p:nvSpPr>
        <p:spPr>
          <a:xfrm>
            <a:off x="5846000" y="2980000"/>
            <a:ext cx="500000" cy="240000"/>
          </a:xfrm>
          <a:prstGeom prst="rightArrow">
            <a:avLst/>
          </a:prstGeom>
          <a:solidFill>
            <a:srgbClr val="9AA9A6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6499400" y="2500000"/>
            <a:ext cx="2100000" cy="1200000"/>
          </a:xfrm>
          <a:prstGeom prst="roundRect">
            <a:avLst/>
          </a:prstGeom>
          <a:solidFill>
            <a:srgbClr val="EEF3F2"/>
          </a:solidFill>
        </p:spPr>
        <p:txBody>
          <a:bodyPr anchor="ctr"/>
          <a:lstStyle/>
          <a:p>
            <a:pPr algn="ctr"/>
            <a:r>
              <a:rPr sz="1600">
                <a:solidFill>
                  <a:srgbClr val="14201F"/>
                </a:solidFill>
                <a:latin typeface="Calibri"/>
              </a:rPr>
              <a:t>Model reads it</a:t>
            </a:r>
          </a:p>
        </p:txBody>
      </p:sp>
      <p:sp>
        <p:nvSpPr>
          <p:cNvPr id="8" name="Shape"/>
          <p:cNvSpPr/>
          <p:nvPr/>
        </p:nvSpPr>
        <p:spPr>
          <a:xfrm>
            <a:off x="8752800" y="2980000"/>
            <a:ext cx="500000" cy="240000"/>
          </a:xfrm>
          <a:prstGeom prst="rightArrow">
            <a:avLst/>
          </a:prstGeom>
          <a:solidFill>
            <a:srgbClr val="9AA9A6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9406200" y="2500000"/>
            <a:ext cx="2100000" cy="1200000"/>
          </a:xfrm>
          <a:prstGeom prst="roundRect">
            <a:avLst/>
          </a:prstGeom>
          <a:solidFill>
            <a:srgbClr val="E8833A"/>
          </a:solidFill>
        </p:spPr>
        <p:txBody>
          <a:bodyPr anchor="ctr"/>
          <a:lstStyle/>
          <a:p>
            <a:pPr algn="ctr"/>
            <a:r>
              <a:rPr sz="1600" b="1">
                <a:latin typeface="Calibri"/>
              </a:rPr>
              <a:t>Grounded answer</a:t>
            </a:r>
          </a:p>
        </p:txBody>
      </p:sp>
      <p:sp>
        <p:nvSpPr>
          <p:cNvPr id="10" name="Shape"/>
          <p:cNvSpPr/>
          <p:nvPr/>
        </p:nvSpPr>
        <p:spPr>
          <a:xfrm>
            <a:off x="4442600" y="3780000"/>
            <a:ext cx="400000" cy="460000"/>
          </a:xfrm>
          <a:prstGeom prst="downArrow">
            <a:avLst/>
          </a:prstGeom>
          <a:solidFill>
            <a:srgbClr val="9AA9A6"/>
          </a:solidFill>
        </p:spPr>
        <p:txBody>
          <a:bodyPr/>
          <a:lstStyle/>
          <a:p>
            <a:endParaRPr/>
          </a:p>
        </p:txBody>
      </p:sp>
      <p:sp>
        <p:nvSpPr>
          <p:cNvPr id="11" name="Shape"/>
          <p:cNvSpPr/>
          <p:nvPr/>
        </p:nvSpPr>
        <p:spPr>
          <a:xfrm>
            <a:off x="3942600" y="4300000"/>
            <a:ext cx="1400000" cy="900000"/>
          </a:xfrm>
          <a:prstGeom prst="can">
            <a:avLst/>
          </a:prstGeom>
          <a:solidFill>
            <a:srgbClr val="2E8B84"/>
          </a:solidFill>
        </p:spPr>
        <p:txBody>
          <a:bodyPr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3242600" y="5250000"/>
            <a:ext cx="2800000" cy="45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400">
                <a:solidFill>
                  <a:srgbClr val="5A6A68"/>
                </a:solidFill>
                <a:latin typeface="Calibri"/>
              </a:rPr>
              <a:t>Your files, wikis, tickets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685800" y="5900000"/>
            <a:ext cx="10820400" cy="500000"/>
          </a:xfrm>
          <a:prstGeom prst="rect">
            <a:avLst/>
          </a:prstGeom>
        </p:spPr>
        <p:txBody>
          <a:bodyPr/>
          <a:lstStyle/>
          <a:p>
            <a:r>
              <a:rPr sz="1600">
                <a:solidFill>
                  <a:srgbClr val="5A6A68"/>
                </a:solidFill>
                <a:latin typeface="Calibri"/>
              </a:rPr>
              <a:t>Use it when the answer must reflect your own documents, policies or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sz="3200" b="1">
                <a:solidFill>
                  <a:srgbClr val="14201F"/>
                </a:solidFill>
                <a:latin typeface="Trebuchet MS"/>
              </a:rPr>
              <a:t>MCP is the standard plug between an agent and your tools</a:t>
            </a:r>
          </a:p>
        </p:txBody>
      </p:sp>
      <p:sp>
        <p:nvSpPr>
          <p:cNvPr id="3" name="Shape"/>
          <p:cNvSpPr/>
          <p:nvPr/>
        </p:nvSpPr>
        <p:spPr>
          <a:xfrm>
            <a:off x="800000" y="2600000"/>
            <a:ext cx="1800000" cy="1800000"/>
          </a:xfrm>
          <a:prstGeom prst="ellipse">
            <a:avLst/>
          </a:prstGeom>
          <a:solidFill>
            <a:srgbClr val="0F4C4A"/>
          </a:solidFill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Your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4" name="Shape"/>
          <p:cNvSpPr/>
          <p:nvPr/>
        </p:nvSpPr>
        <p:spPr>
          <a:xfrm>
            <a:off x="2750000" y="3360000"/>
            <a:ext cx="550000" cy="280000"/>
          </a:xfrm>
          <a:prstGeom prst="rightArrow">
            <a:avLst/>
          </a:prstGeom>
          <a:solidFill>
            <a:srgbClr val="9AA9A6"/>
          </a:solidFill>
        </p:spPr>
        <p:txBody>
          <a:bodyPr/>
          <a:lstStyle/>
          <a:p>
            <a:endParaRPr/>
          </a:p>
        </p:txBody>
      </p:sp>
      <p:sp>
        <p:nvSpPr>
          <p:cNvPr id="5" name="Shape"/>
          <p:cNvSpPr/>
          <p:nvPr/>
        </p:nvSpPr>
        <p:spPr>
          <a:xfrm>
            <a:off x="3400000" y="1900000"/>
            <a:ext cx="1300000" cy="3400000"/>
          </a:xfrm>
          <a:prstGeom prst="roundRect">
            <a:avLst/>
          </a:prstGeom>
          <a:solidFill>
            <a:srgbClr val="E8833A"/>
          </a:solidFill>
        </p:spPr>
        <p:txBody>
          <a:bodyPr wrap="none" anchor="ctr"/>
          <a:lstStyle/>
          <a:p>
            <a:pPr algn="ctr"/>
            <a:r>
              <a:rPr sz="2600" b="1">
                <a:latin typeface="Trebuchet MS"/>
              </a:rPr>
              <a:t>MCP</a:t>
            </a:r>
          </a:p>
        </p:txBody>
      </p:sp>
      <p:sp>
        <p:nvSpPr>
          <p:cNvPr id="6" name="Shape"/>
          <p:cNvSpPr/>
          <p:nvPr/>
        </p:nvSpPr>
        <p:spPr>
          <a:xfrm>
            <a:off x="4800000" y="2130000"/>
            <a:ext cx="650000" cy="240000"/>
          </a:xfrm>
          <a:prstGeom prst="rightArrow">
            <a:avLst/>
          </a:prstGeom>
          <a:solidFill>
            <a:srgbClr val="9AA9A6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4800000" y="3030000"/>
            <a:ext cx="650000" cy="240000"/>
          </a:xfrm>
          <a:prstGeom prst="rightArrow">
            <a:avLst/>
          </a:prstGeom>
          <a:solidFill>
            <a:srgbClr val="9AA9A6"/>
          </a:solidFill>
        </p:spPr>
        <p:txBody>
          <a:bodyPr/>
          <a:lstStyle/>
          <a:p>
            <a:endParaRPr/>
          </a:p>
        </p:txBody>
      </p:sp>
      <p:sp>
        <p:nvSpPr>
          <p:cNvPr id="8" name="Shape"/>
          <p:cNvSpPr/>
          <p:nvPr/>
        </p:nvSpPr>
        <p:spPr>
          <a:xfrm>
            <a:off x="4800000" y="3930000"/>
            <a:ext cx="650000" cy="240000"/>
          </a:xfrm>
          <a:prstGeom prst="rightArrow">
            <a:avLst/>
          </a:prstGeom>
          <a:solidFill>
            <a:srgbClr val="9AA9A6"/>
          </a:solidFill>
        </p:spPr>
        <p:txBody>
          <a:bodyPr/>
          <a:lstStyle/>
          <a:p>
            <a:endParaRPr/>
          </a:p>
        </p:txBody>
      </p:sp>
      <p:sp>
        <p:nvSpPr>
          <p:cNvPr id="9" name="Shape"/>
          <p:cNvSpPr/>
          <p:nvPr/>
        </p:nvSpPr>
        <p:spPr>
          <a:xfrm>
            <a:off x="4800000" y="4830000"/>
            <a:ext cx="650000" cy="240000"/>
          </a:xfrm>
          <a:prstGeom prst="rightArrow">
            <a:avLst/>
          </a:prstGeom>
          <a:solidFill>
            <a:srgbClr val="9AA9A6"/>
          </a:solidFill>
        </p:spPr>
        <p:txBody>
          <a:bodyPr/>
          <a:lstStyle/>
          <a:p>
            <a:endParaRPr/>
          </a:p>
        </p:txBody>
      </p:sp>
      <p:sp>
        <p:nvSpPr>
          <p:cNvPr id="10" name="Shape"/>
          <p:cNvSpPr/>
          <p:nvPr/>
        </p:nvSpPr>
        <p:spPr>
          <a:xfrm>
            <a:off x="5600000" y="1900000"/>
            <a:ext cx="5900000" cy="700000"/>
          </a:xfrm>
          <a:prstGeom prst="roundRect">
            <a:avLst/>
          </a:prstGeom>
          <a:solidFill>
            <a:srgbClr val="EEF3F2"/>
          </a:solidFill>
        </p:spPr>
        <p:txBody>
          <a:bodyPr anchor="ctr"/>
          <a:lstStyle/>
          <a:p>
            <a:pPr algn="ctr"/>
            <a:r>
              <a:rPr sz="1600">
                <a:solidFill>
                  <a:srgbClr val="14201F"/>
                </a:solidFill>
                <a:latin typeface="Calibri"/>
              </a:rPr>
              <a:t>Email and calendar</a:t>
            </a:r>
          </a:p>
        </p:txBody>
      </p:sp>
      <p:sp>
        <p:nvSpPr>
          <p:cNvPr id="11" name="Shape"/>
          <p:cNvSpPr/>
          <p:nvPr/>
        </p:nvSpPr>
        <p:spPr>
          <a:xfrm>
            <a:off x="5600000" y="2800000"/>
            <a:ext cx="5900000" cy="700000"/>
          </a:xfrm>
          <a:prstGeom prst="roundRect">
            <a:avLst/>
          </a:prstGeom>
          <a:solidFill>
            <a:srgbClr val="EEF3F2"/>
          </a:solidFill>
        </p:spPr>
        <p:txBody>
          <a:bodyPr anchor="ctr"/>
          <a:lstStyle/>
          <a:p>
            <a:pPr algn="ctr"/>
            <a:r>
              <a:rPr sz="1600">
                <a:solidFill>
                  <a:srgbClr val="14201F"/>
                </a:solidFill>
                <a:latin typeface="Calibri"/>
              </a:rPr>
              <a:t>Files and SharePoint</a:t>
            </a:r>
          </a:p>
        </p:txBody>
      </p:sp>
      <p:sp>
        <p:nvSpPr>
          <p:cNvPr id="12" name="Shape"/>
          <p:cNvSpPr/>
          <p:nvPr/>
        </p:nvSpPr>
        <p:spPr>
          <a:xfrm>
            <a:off x="5600000" y="3700000"/>
            <a:ext cx="5900000" cy="700000"/>
          </a:xfrm>
          <a:prstGeom prst="roundRect">
            <a:avLst/>
          </a:prstGeom>
          <a:solidFill>
            <a:srgbClr val="EEF3F2"/>
          </a:solidFill>
        </p:spPr>
        <p:txBody>
          <a:bodyPr anchor="ctr"/>
          <a:lstStyle/>
          <a:p>
            <a:pPr algn="ctr"/>
            <a:r>
              <a:rPr sz="1600">
                <a:solidFill>
                  <a:srgbClr val="14201F"/>
                </a:solidFill>
                <a:latin typeface="Calibri"/>
              </a:rPr>
              <a:t>CRM and ticketing systems</a:t>
            </a:r>
          </a:p>
        </p:txBody>
      </p:sp>
      <p:sp>
        <p:nvSpPr>
          <p:cNvPr id="13" name="Shape"/>
          <p:cNvSpPr/>
          <p:nvPr/>
        </p:nvSpPr>
        <p:spPr>
          <a:xfrm>
            <a:off x="5600000" y="4600000"/>
            <a:ext cx="5900000" cy="700000"/>
          </a:xfrm>
          <a:prstGeom prst="roundRect">
            <a:avLst/>
          </a:prstGeom>
          <a:solidFill>
            <a:srgbClr val="EEF3F2"/>
          </a:solidFill>
        </p:spPr>
        <p:txBody>
          <a:bodyPr anchor="ctr"/>
          <a:lstStyle/>
          <a:p>
            <a:pPr algn="ctr"/>
            <a:r>
              <a:rPr sz="1600">
                <a:solidFill>
                  <a:srgbClr val="14201F"/>
                </a:solidFill>
                <a:latin typeface="Calibri"/>
              </a:rPr>
              <a:t>Databases and internal APIs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685800" y="5900000"/>
            <a:ext cx="10820400" cy="500000"/>
          </a:xfrm>
          <a:prstGeom prst="rect">
            <a:avLst/>
          </a:prstGeom>
        </p:spPr>
        <p:txBody>
          <a:bodyPr/>
          <a:lstStyle/>
          <a:p>
            <a:r>
              <a:rPr sz="1600">
                <a:solidFill>
                  <a:srgbClr val="5A6A68"/>
                </a:solidFill>
                <a:latin typeface="Calibri"/>
              </a:rPr>
              <a:t>Use it when the agent needs to do something — read a file, update a record, call a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sz="3200" b="1">
                <a:solidFill>
                  <a:srgbClr val="14201F"/>
                </a:solidFill>
                <a:latin typeface="Trebuchet MS"/>
              </a:rPr>
              <a:t>A2A lets specialist agents hand work to each other</a:t>
            </a:r>
          </a:p>
        </p:txBody>
      </p:sp>
      <p:sp>
        <p:nvSpPr>
          <p:cNvPr id="3" name="Shape"/>
          <p:cNvSpPr/>
          <p:nvPr/>
        </p:nvSpPr>
        <p:spPr>
          <a:xfrm>
            <a:off x="1300000" y="2600000"/>
            <a:ext cx="1800000" cy="1800000"/>
          </a:xfrm>
          <a:prstGeom prst="ellipse">
            <a:avLst/>
          </a:prstGeom>
          <a:solidFill>
            <a:srgbClr val="0F4C4A"/>
          </a:solidFill>
        </p:spPr>
        <p:txBody>
          <a:bodyPr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Research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4" name="Shape"/>
          <p:cNvSpPr/>
          <p:nvPr/>
        </p:nvSpPr>
        <p:spPr>
          <a:xfrm>
            <a:off x="5196000" y="2600000"/>
            <a:ext cx="1800000" cy="1800000"/>
          </a:xfrm>
          <a:prstGeom prst="ellipse">
            <a:avLst/>
          </a:prstGeom>
          <a:solidFill>
            <a:srgbClr val="2E8B84"/>
          </a:solidFill>
        </p:spPr>
        <p:txBody>
          <a:bodyPr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Analysis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5" name="Shape"/>
          <p:cNvSpPr/>
          <p:nvPr/>
        </p:nvSpPr>
        <p:spPr>
          <a:xfrm>
            <a:off x="9092000" y="2600000"/>
            <a:ext cx="1800000" cy="1800000"/>
          </a:xfrm>
          <a:prstGeom prst="ellipse">
            <a:avLst/>
          </a:prstGeom>
          <a:solidFill>
            <a:srgbClr val="E8833A"/>
          </a:solidFill>
        </p:spPr>
        <p:txBody>
          <a:bodyPr anchor="ctr"/>
          <a:lstStyle/>
          <a:p>
            <a:pPr algn="ctr"/>
            <a:r>
              <a:rPr sz="1600" b="1">
                <a:latin typeface="Calibri"/>
              </a:rPr>
              <a:t>Drafting</a:t>
            </a:r>
          </a:p>
          <a:p>
            <a:pPr algn="ctr"/>
            <a:r>
              <a:rPr sz="1600" b="1">
                <a:latin typeface="Calibri"/>
              </a:rPr>
              <a:t>agent</a:t>
            </a:r>
          </a:p>
        </p:txBody>
      </p:sp>
      <p:sp>
        <p:nvSpPr>
          <p:cNvPr id="6" name="Shape"/>
          <p:cNvSpPr/>
          <p:nvPr/>
        </p:nvSpPr>
        <p:spPr>
          <a:xfrm>
            <a:off x="3275000" y="3360000"/>
            <a:ext cx="1846000" cy="280000"/>
          </a:xfrm>
          <a:prstGeom prst="leftRightArrow">
            <a:avLst/>
          </a:prstGeom>
          <a:solidFill>
            <a:srgbClr val="5A6A68"/>
          </a:solidFill>
        </p:spPr>
        <p:txBody>
          <a:bodyPr/>
          <a:lstStyle/>
          <a:p>
            <a:endParaRPr/>
          </a:p>
        </p:txBody>
      </p:sp>
      <p:sp>
        <p:nvSpPr>
          <p:cNvPr id="7" name="Shape"/>
          <p:cNvSpPr/>
          <p:nvPr/>
        </p:nvSpPr>
        <p:spPr>
          <a:xfrm>
            <a:off x="7171000" y="3360000"/>
            <a:ext cx="1846000" cy="280000"/>
          </a:xfrm>
          <a:prstGeom prst="leftRightArrow">
            <a:avLst/>
          </a:prstGeom>
          <a:solidFill>
            <a:srgbClr val="5A6A68"/>
          </a:solidFill>
        </p:spPr>
        <p:txBody>
          <a:bodyPr/>
          <a:lstStyle/>
          <a:p>
            <a:endParaRPr/>
          </a:p>
        </p:txBody>
      </p:sp>
      <p:sp>
        <p:nvSpPr>
          <p:cNvPr id="8" name="TextBox"/>
          <p:cNvSpPr txBox="1"/>
          <p:nvPr/>
        </p:nvSpPr>
        <p:spPr>
          <a:xfrm>
            <a:off x="3250000" y="3800000"/>
            <a:ext cx="1846000" cy="4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400">
                <a:solidFill>
                  <a:srgbClr val="5A6A68"/>
                </a:solidFill>
                <a:latin typeface="Calibri"/>
              </a:rPr>
              <a:t>passes the task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7146000" y="3800000"/>
            <a:ext cx="1846000" cy="4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400">
                <a:solidFill>
                  <a:srgbClr val="5A6A68"/>
                </a:solidFill>
                <a:latin typeface="Calibri"/>
              </a:rPr>
              <a:t>returns the result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85800" y="5150000"/>
            <a:ext cx="10820400" cy="900000"/>
          </a:xfrm>
          <a:prstGeom prst="rect">
            <a:avLst/>
          </a:prstGeom>
        </p:spPr>
        <p:txBody>
          <a:bodyPr/>
          <a:lstStyle/>
          <a:p>
            <a:r>
              <a:rPr sz="1600">
                <a:solidFill>
                  <a:srgbClr val="5A6A68"/>
                </a:solidFill>
                <a:latin typeface="Calibri"/>
              </a:rPr>
              <a:t>Use it when one job spans several specialist agents — including agents built by different teams or vendors.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685800" y="548640"/>
            <a:ext cx="10820400" cy="1000000"/>
          </a:xfrm>
          <a:prstGeom prst="rect">
            <a:avLst/>
          </a:prstGeom>
        </p:spPr>
        <p:txBody>
          <a:bodyPr/>
          <a:lstStyle/>
          <a:p>
            <a:r>
              <a:rPr sz="3200" b="1">
                <a:solidFill>
                  <a:srgbClr val="14201F"/>
                </a:solidFill>
                <a:latin typeface="Trebuchet MS"/>
              </a:rPr>
              <a:t>Knowledge, action, teamwork — one term for each job</a:t>
            </a:r>
          </a:p>
        </p:txBody>
      </p:sp>
      <p:graphicFrame>
        <p:nvGraphicFramePr>
          <p:cNvPr id="3" name="Table"/>
          <p:cNvGraphicFramePr/>
          <p:nvPr/>
        </p:nvGraphicFramePr>
        <p:xfrm>
          <a:off x="685800" y="1900000"/>
          <a:ext cx="10820400" cy="2900000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5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rebuchet MS"/>
                        </a:rPr>
                        <a:t>Term</a:t>
                      </a:r>
                    </a:p>
                  </a:txBody>
                  <a:tcPr anchor="ctr">
                    <a:lnL w="12700">
                      <a:solidFill>
                        <a:srgbClr val="0F4C4A"/>
                      </a:solidFill>
                    </a:lnL>
                    <a:lnR w="12700">
                      <a:solidFill>
                        <a:srgbClr val="0F4C4A"/>
                      </a:solidFill>
                    </a:lnR>
                    <a:lnT w="12700">
                      <a:solidFill>
                        <a:srgbClr val="0F4C4A"/>
                      </a:solidFill>
                    </a:lnT>
                    <a:lnB w="12700">
                      <a:solidFill>
                        <a:srgbClr val="0F4C4A"/>
                      </a:solidFill>
                    </a:lnB>
                    <a:solidFill>
                      <a:srgbClr val="0F4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rebuchet MS"/>
                        </a:rPr>
                        <a:t>What it does</a:t>
                      </a:r>
                    </a:p>
                  </a:txBody>
                  <a:tcPr anchor="ctr">
                    <a:lnL w="12700">
                      <a:solidFill>
                        <a:srgbClr val="0F4C4A"/>
                      </a:solidFill>
                    </a:lnL>
                    <a:lnR w="12700">
                      <a:solidFill>
                        <a:srgbClr val="0F4C4A"/>
                      </a:solidFill>
                    </a:lnR>
                    <a:lnT w="12700">
                      <a:solidFill>
                        <a:srgbClr val="0F4C4A"/>
                      </a:solidFill>
                    </a:lnT>
                    <a:lnB w="12700">
                      <a:solidFill>
                        <a:srgbClr val="0F4C4A"/>
                      </a:solidFill>
                    </a:lnB>
                    <a:solidFill>
                      <a:srgbClr val="0F4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rebuchet MS"/>
                        </a:rPr>
                        <a:t>Reach for it when</a:t>
                      </a:r>
                    </a:p>
                  </a:txBody>
                  <a:tcPr anchor="ctr">
                    <a:lnL w="12700">
                      <a:solidFill>
                        <a:srgbClr val="0F4C4A"/>
                      </a:solidFill>
                    </a:lnL>
                    <a:lnR w="12700">
                      <a:solidFill>
                        <a:srgbClr val="0F4C4A"/>
                      </a:solidFill>
                    </a:lnR>
                    <a:lnT w="12700">
                      <a:solidFill>
                        <a:srgbClr val="0F4C4A"/>
                      </a:solidFill>
                    </a:lnT>
                    <a:lnB w="12700">
                      <a:solidFill>
                        <a:srgbClr val="0F4C4A"/>
                      </a:solidFill>
                    </a:lnB>
                    <a:solidFill>
                      <a:srgbClr val="0F4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F4C4A"/>
                          </a:solidFill>
                          <a:latin typeface="Trebuchet MS"/>
                        </a:rPr>
                        <a:t>RAG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0F4C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4201F"/>
                          </a:solidFill>
                          <a:latin typeface="Calibri"/>
                        </a:rPr>
                        <a:t>Pulls in your content before answering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0F4C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4201F"/>
                          </a:solidFill>
                          <a:latin typeface="Calibri"/>
                        </a:rPr>
                        <a:t>The answer must come from your material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0F4C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r>
                        <a:rPr sz="2000" b="1">
                          <a:latin typeface="Trebuchet MS"/>
                        </a:rPr>
                        <a:t>MCP</a:t>
                      </a:r>
                    </a:p>
                  </a:txBody>
                  <a:tcPr anchor="ctr">
                    <a:lnL w="12700">
                      <a:solidFill>
                        <a:srgbClr val="EEF3F2"/>
                      </a:solidFill>
                    </a:lnL>
                    <a:lnR w="12700">
                      <a:solidFill>
                        <a:srgbClr val="EEF3F2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EF3F2"/>
                      </a:solidFill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4201F"/>
                          </a:solidFill>
                          <a:latin typeface="Calibri"/>
                        </a:rPr>
                        <a:t>Connects the agent to tools and systems</a:t>
                      </a:r>
                    </a:p>
                  </a:txBody>
                  <a:tcPr anchor="ctr">
                    <a:lnL w="12700">
                      <a:solidFill>
                        <a:srgbClr val="EEF3F2"/>
                      </a:solidFill>
                    </a:lnL>
                    <a:lnR w="12700">
                      <a:solidFill>
                        <a:srgbClr val="EEF3F2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EF3F2"/>
                      </a:solidFill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4201F"/>
                          </a:solidFill>
                          <a:latin typeface="Calibri"/>
                        </a:rPr>
                        <a:t>The agent needs to act, not just answer</a:t>
                      </a:r>
                    </a:p>
                  </a:txBody>
                  <a:tcPr anchor="ctr">
                    <a:lnL w="12700">
                      <a:solidFill>
                        <a:srgbClr val="EEF3F2"/>
                      </a:solidFill>
                    </a:lnL>
                    <a:lnR w="12700">
                      <a:solidFill>
                        <a:srgbClr val="EEF3F2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EF3F2"/>
                      </a:solidFill>
                    </a:lnB>
                    <a:solidFill>
                      <a:srgbClr val="EE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E8B84"/>
                          </a:solidFill>
                          <a:latin typeface="Trebuchet MS"/>
                        </a:rPr>
                        <a:t>A2A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EE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4201F"/>
                          </a:solidFill>
                          <a:latin typeface="Calibri"/>
                        </a:rPr>
                        <a:t>Lets agents talk to other agents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EE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4201F"/>
                          </a:solidFill>
                          <a:latin typeface="Calibri"/>
                        </a:rPr>
                        <a:t>Work spans several specialist agents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EE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"/>
          <p:cNvSpPr txBox="1"/>
          <p:nvPr/>
        </p:nvSpPr>
        <p:spPr>
          <a:xfrm>
            <a:off x="685800" y="5200000"/>
            <a:ext cx="10820400" cy="500000"/>
          </a:xfrm>
          <a:prstGeom prst="rect">
            <a:avLst/>
          </a:prstGeom>
        </p:spPr>
        <p:txBody>
          <a:bodyPr/>
          <a:lstStyle/>
          <a:p>
            <a:r>
              <a:rPr sz="1600">
                <a:solidFill>
                  <a:srgbClr val="5A6A68"/>
                </a:solidFill>
                <a:latin typeface="Calibri"/>
              </a:rPr>
              <a:t>Most real solutions use all three together.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4C4A"/>
          </a:solidFill>
        </p:spPr>
        <p:txBody>
          <a:bodyPr/>
          <a:lstStyle/>
          <a:p>
            <a:endParaRPr/>
          </a:p>
        </p:txBody>
      </p:sp>
      <p:sp>
        <p:nvSpPr>
          <p:cNvPr id="3" name="TextBox"/>
          <p:cNvSpPr txBox="1"/>
          <p:nvPr/>
        </p:nvSpPr>
        <p:spPr>
          <a:xfrm>
            <a:off x="914400" y="1500000"/>
            <a:ext cx="10363200" cy="1300000"/>
          </a:xfrm>
          <a:prstGeom prst="rect">
            <a:avLst/>
          </a:prstGeom>
        </p:spPr>
        <p:txBody>
          <a:bodyPr/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Together: an agent that knows, acts and collaborates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400000" y="3200000"/>
            <a:ext cx="9391600" cy="2200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70000"/>
              </a:lnSpc>
              <a:buNone/>
            </a:pPr>
            <a:r>
              <a:rPr sz="2200">
                <a:solidFill>
                  <a:srgbClr val="FFFFFF"/>
                </a:solidFill>
                <a:latin typeface="Calibri"/>
              </a:rPr>
              <a:t>RAG — it knows your world</a:t>
            </a:r>
          </a:p>
          <a:p>
            <a:pPr>
              <a:lnSpc>
                <a:spcPct val="170000"/>
              </a:lnSpc>
              <a:buNone/>
            </a:pPr>
            <a:r>
              <a:rPr sz="2200">
                <a:solidFill>
                  <a:srgbClr val="FFFFFF"/>
                </a:solidFill>
                <a:latin typeface="Calibri"/>
              </a:rPr>
              <a:t>MCP — it acts in your systems</a:t>
            </a:r>
          </a:p>
          <a:p>
            <a:pPr>
              <a:lnSpc>
                <a:spcPct val="170000"/>
              </a:lnSpc>
              <a:buNone/>
            </a:pPr>
            <a:r>
              <a:rPr sz="2200">
                <a:solidFill>
                  <a:srgbClr val="FFFFFF"/>
                </a:solidFill>
                <a:latin typeface="Calibri"/>
              </a:rPr>
              <a:t>A2A — it works with other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fbde396-1a24-4c79-8edf-9254a0f35055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418</Words>
  <Application>Microsoft Macintosh PowerPoint</Application>
  <PresentationFormat>Widescreen</PresentationFormat>
  <Paragraphs>60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Jason Farrell</cp:lastModifiedBy>
  <cp:revision>2</cp:revision>
  <dcterms:created xsi:type="dcterms:W3CDTF">2013-01-27T09:14:16Z</dcterms:created>
  <dcterms:modified xsi:type="dcterms:W3CDTF">2026-08-05T19:35:15Z</dcterms:modified>
  <cp:category/>
</cp:coreProperties>
</file>